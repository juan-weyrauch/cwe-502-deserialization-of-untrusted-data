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9" r:id="rId5"/>
    <p:sldId id="310" r:id="rId6"/>
    <p:sldId id="316" r:id="rId7"/>
    <p:sldId id="311" r:id="rId8"/>
    <p:sldId id="312" r:id="rId9"/>
    <p:sldId id="315" r:id="rId10"/>
    <p:sldId id="314" r:id="rId11"/>
    <p:sldId id="317" r:id="rId12"/>
  </p:sldIdLst>
  <p:sldSz cx="12192000" cy="6858000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mbre del Punto" id="{B5B95F0C-5173-4023-9D0D-06A708917213}">
          <p14:sldIdLst>
            <p14:sldId id="259"/>
            <p14:sldId id="310"/>
            <p14:sldId id="316"/>
            <p14:sldId id="311"/>
            <p14:sldId id="312"/>
            <p14:sldId id="315"/>
            <p14:sldId id="314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7B495-6B6F-2486-5C2C-42C6FB0CFC23}" v="245" dt="2026-08-15T23:25:31.468"/>
    <p1510:client id="{C399E4A8-BBD8-BE71-0596-789DB10B13AF}" v="17" dt="2026-08-15T21:38:00.066"/>
    <p1510:client id="{DC5A9C09-2E68-1404-2BE8-D5D4F80FA032}" v="6" dt="2026-08-15T23:17:05.6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63A25-737D-45C4-8237-2D50875A0638}" type="datetimeFigureOut">
              <a:rPr lang="es-UY" smtClean="0"/>
              <a:t>15/10/2026</a:t>
            </a:fld>
            <a:endParaRPr lang="es-U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AE46B-1B9D-4E25-8FD8-0FC7AA498EC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3105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>
              <a:highlight>
                <a:srgbClr val="FFFFFF"/>
              </a:highlight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AE46B-1B9D-4E25-8FD8-0FC7AA498ECF}" type="slidenum">
              <a:rPr lang="es-UY" smtClean="0"/>
              <a:t>1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03216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068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Y" dirty="0"/>
              <a:t>Aquí se pone punto a </a:t>
            </a:r>
            <a:r>
              <a:rPr lang="es-UY" dirty="0" err="1"/>
              <a:t>punt</a:t>
            </a:r>
            <a:r>
              <a:rPr lang="es-UY"/>
              <a:t>o los detalles de la demo</a:t>
            </a:r>
            <a:endParaRPr lang="es-U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332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7D77-251F-FB4C-17CA-2C7C84F5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3E01B-286C-AD8A-FC70-E175008E7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2A113-7BB0-A5BA-ECF5-A356F5996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C485-7743-03C9-785D-DA4E76CE9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510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1D4C-24C4-3710-1673-680564AD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B3896-C19E-D726-BAFF-44C61CFF0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CCEA8-332E-E3A8-5C18-DDE0252AA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F07EF-213E-FE52-9CC1-EF2028CA8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205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25799"/>
            <a:ext cx="9144000" cy="990216"/>
          </a:xfrm>
        </p:spPr>
        <p:txBody>
          <a:bodyPr anchor="b">
            <a:normAutofit/>
          </a:bodyPr>
          <a:lstStyle>
            <a:lvl1pPr algn="ctr">
              <a:defRPr sz="5000" baseline="0">
                <a:solidFill>
                  <a:schemeClr val="bg1"/>
                </a:solidFill>
                <a:latin typeface="Gill Sans" panose="020B0602020204020204" pitchFamily="34" charset="0"/>
                <a:ea typeface="Roboto" panose="02000000000000000000" pitchFamily="2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824705"/>
            <a:ext cx="9144000" cy="662152"/>
          </a:xfrm>
        </p:spPr>
        <p:txBody>
          <a:bodyPr>
            <a:noAutofit/>
          </a:bodyPr>
          <a:lstStyle>
            <a:lvl1pPr marL="0" indent="0" algn="ctr">
              <a:buNone/>
              <a:defRPr sz="2600" baseline="0">
                <a:solidFill>
                  <a:schemeClr val="bg1"/>
                </a:solidFill>
                <a:latin typeface="Gill Sans" panose="020B0602020204020204"/>
                <a:ea typeface="Roboto Light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590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301765"/>
            <a:ext cx="6802821" cy="2554013"/>
          </a:xfrm>
        </p:spPr>
        <p:txBody>
          <a:bodyPr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Gill Sans" panose="020B0602020204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156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5468AAE-DF5E-E2E9-084F-8217020E7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62" y="136525"/>
            <a:ext cx="11570275" cy="1040765"/>
          </a:xfrm>
        </p:spPr>
        <p:txBody>
          <a:bodyPr>
            <a:normAutofit/>
          </a:bodyPr>
          <a:lstStyle>
            <a:lvl1pPr>
              <a:defRPr sz="2800">
                <a:latin typeface="Gill Sans" panose="020B0602020204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46E2A41-5D30-D169-A124-067A7B3EA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62" y="1268083"/>
            <a:ext cx="5581291" cy="4787660"/>
          </a:xfrm>
        </p:spPr>
        <p:txBody>
          <a:bodyPr/>
          <a:lstStyle>
            <a:lvl1pPr marL="0" indent="0">
              <a:buNone/>
              <a:defRPr sz="2800">
                <a:latin typeface="+mn-lt"/>
                <a:ea typeface="Roboto Light" panose="02000000000000000000" pitchFamily="2" charset="0"/>
              </a:defRPr>
            </a:lvl1pPr>
            <a:lvl2pPr marL="457200" indent="0">
              <a:buNone/>
              <a:defRPr sz="2400">
                <a:latin typeface="+mn-lt"/>
                <a:ea typeface="Roboto Light" panose="02000000000000000000" pitchFamily="2" charset="0"/>
              </a:defRPr>
            </a:lvl2pPr>
            <a:lvl3pPr marL="914400" indent="0">
              <a:buNone/>
              <a:defRPr lang="es-ES" sz="200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Roboto Light" panose="02000000000000000000" pitchFamily="2" charset="0"/>
              </a:defRPr>
            </a:lvl4pPr>
            <a:lvl5pPr marL="1828800" indent="0">
              <a:buNone/>
              <a:defRPr sz="1600">
                <a:latin typeface="+mn-lt"/>
                <a:ea typeface="Roboto Light" panose="02000000000000000000" pitchFamily="2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77D754F-5ACE-EE71-27BE-A7D174031C3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970113" y="1268082"/>
            <a:ext cx="5911025" cy="4787661"/>
          </a:xfrm>
        </p:spPr>
        <p:txBody>
          <a:bodyPr/>
          <a:lstStyle>
            <a:lvl1pPr marL="0" indent="0">
              <a:buNone/>
              <a:defRPr sz="2800">
                <a:latin typeface="+mn-lt"/>
                <a:ea typeface="Roboto Light" panose="02000000000000000000" pitchFamily="2" charset="0"/>
              </a:defRPr>
            </a:lvl1pPr>
            <a:lvl2pPr marL="457200" indent="0">
              <a:buNone/>
              <a:defRPr sz="2400">
                <a:latin typeface="+mn-lt"/>
                <a:ea typeface="Roboto Light" panose="02000000000000000000" pitchFamily="2" charset="0"/>
              </a:defRPr>
            </a:lvl2pPr>
            <a:lvl3pPr marL="914400" indent="0">
              <a:buNone/>
              <a:defRPr lang="es-ES" sz="200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Roboto Light" panose="02000000000000000000" pitchFamily="2" charset="0"/>
              </a:defRPr>
            </a:lvl4pPr>
            <a:lvl5pPr marL="1828800" indent="0">
              <a:buNone/>
              <a:defRPr sz="1600">
                <a:latin typeface="+mn-lt"/>
                <a:ea typeface="Roboto Light" panose="02000000000000000000" pitchFamily="2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85F0FBA1-852F-98E4-6AB3-5D09E746B21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10862" y="6356350"/>
            <a:ext cx="2743200" cy="365125"/>
          </a:xfrm>
        </p:spPr>
        <p:txBody>
          <a:bodyPr/>
          <a:lstStyle/>
          <a:p>
            <a:pPr>
              <a:defRPr/>
            </a:pPr>
            <a:fld id="{0694217E-8BC5-4DDC-A7B6-FA99388452D0}" type="datetimeFigureOut">
              <a:rPr lang="es-ES" smtClean="0"/>
              <a:pPr>
                <a:defRPr/>
              </a:pPr>
              <a:t>15/10/2026</a:t>
            </a:fld>
            <a:endParaRPr lang="es-E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1A9AF1A-BE77-FC0C-92DF-5E52C4EC83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s-ES"/>
              <a:t>Desarrollo De Software Seguro</a:t>
            </a: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4183B17B-0854-8B96-1177-1D2FCC3F67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37938" y="6356350"/>
            <a:ext cx="2743200" cy="365125"/>
          </a:xfrm>
        </p:spPr>
        <p:txBody>
          <a:bodyPr/>
          <a:lstStyle/>
          <a:p>
            <a:pPr>
              <a:defRPr/>
            </a:pPr>
            <a:fld id="{11DF6312-B1DF-40E8-9163-B4108E4D7ADA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224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Un objeto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5468AAE-DF5E-E2E9-084F-8217020E7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62" y="136525"/>
            <a:ext cx="11570275" cy="1040765"/>
          </a:xfrm>
        </p:spPr>
        <p:txBody>
          <a:bodyPr>
            <a:normAutofit/>
          </a:bodyPr>
          <a:lstStyle>
            <a:lvl1pPr>
              <a:defRPr sz="2800">
                <a:latin typeface="Gill Sans" panose="020B0602020204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46E2A41-5D30-D169-A124-067A7B3EA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62" y="1268083"/>
            <a:ext cx="11570275" cy="4804913"/>
          </a:xfrm>
        </p:spPr>
        <p:txBody>
          <a:bodyPr/>
          <a:lstStyle>
            <a:lvl1pPr marL="0" indent="0">
              <a:buNone/>
              <a:defRPr sz="2800">
                <a:latin typeface="+mn-lt"/>
                <a:ea typeface="Roboto Light" panose="02000000000000000000" pitchFamily="2" charset="0"/>
              </a:defRPr>
            </a:lvl1pPr>
            <a:lvl2pPr marL="457200" indent="0">
              <a:buNone/>
              <a:defRPr sz="2400">
                <a:latin typeface="+mn-lt"/>
                <a:ea typeface="Roboto Light" panose="02000000000000000000" pitchFamily="2" charset="0"/>
              </a:defRPr>
            </a:lvl2pPr>
            <a:lvl3pPr marL="914400" indent="0">
              <a:buNone/>
              <a:defRPr lang="es-ES" sz="200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Roboto Light" panose="02000000000000000000" pitchFamily="2" charset="0"/>
              </a:defRPr>
            </a:lvl4pPr>
            <a:lvl5pPr marL="1828800" indent="0">
              <a:buNone/>
              <a:defRPr sz="1600">
                <a:latin typeface="+mn-lt"/>
                <a:ea typeface="Roboto Light" panose="02000000000000000000" pitchFamily="2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85F0FBA1-852F-98E4-6AB3-5D09E746B21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10862" y="6356350"/>
            <a:ext cx="2743200" cy="365125"/>
          </a:xfrm>
        </p:spPr>
        <p:txBody>
          <a:bodyPr/>
          <a:lstStyle/>
          <a:p>
            <a:pPr>
              <a:defRPr/>
            </a:pPr>
            <a:fld id="{0694217E-8BC5-4DDC-A7B6-FA99388452D0}" type="datetimeFigureOut">
              <a:rPr lang="es-ES" smtClean="0"/>
              <a:pPr>
                <a:defRPr/>
              </a:pPr>
              <a:t>15/10/2026</a:t>
            </a:fld>
            <a:endParaRPr lang="es-E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1A9AF1A-BE77-FC0C-92DF-5E52C4EC83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s-ES"/>
              <a:t>Desarrollo De Software Seguro</a:t>
            </a: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4183B17B-0854-8B96-1177-1D2FCC3F67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37938" y="6356350"/>
            <a:ext cx="2743200" cy="365125"/>
          </a:xfrm>
        </p:spPr>
        <p:txBody>
          <a:bodyPr/>
          <a:lstStyle/>
          <a:p>
            <a:pPr>
              <a:defRPr/>
            </a:pPr>
            <a:fld id="{11DF6312-B1DF-40E8-9163-B4108E4D7ADA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26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título del patrón</a:t>
            </a:r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Editar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694217E-8BC5-4DDC-A7B6-FA99388452D0}" type="datetimeFigureOut">
              <a:rPr lang="es-ES"/>
              <a:pPr>
                <a:defRPr/>
              </a:pPr>
              <a:t>15/10/2026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ES"/>
              <a:t>Desarrollo De Software Seguro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1DF6312-B1DF-40E8-9163-B4108E4D7AD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A6B1D93-CCC0-7B13-5A58-DBC61A4F7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001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	</a:t>
            </a:r>
            <a:endParaRPr kumimoji="0" lang="es-ES" altLang="en-001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9E29807-E77B-1D69-A3C8-F430E07780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00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801" r:id="rId2"/>
    <p:sldLayoutId id="2147483807" r:id="rId3"/>
    <p:sldLayoutId id="2147483817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Gill Sans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an-Weyrauch/CWE-502-Deserialization-of-Untrusted-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25799"/>
            <a:ext cx="9144000" cy="990216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s-ES"/>
              <a:t>Desarrollo Seguro de Software</a:t>
            </a:r>
            <a:br>
              <a:rPr lang="es-ES"/>
            </a:br>
            <a:r>
              <a:rPr lang="es-ES"/>
              <a:t>CWE/SANS TOP 25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824705"/>
            <a:ext cx="9144000" cy="990216"/>
          </a:xfrm>
        </p:spPr>
        <p:txBody>
          <a:bodyPr/>
          <a:lstStyle/>
          <a:p>
            <a:r>
              <a:rPr lang="en-GB" dirty="0">
                <a:ea typeface="Roboto Light"/>
              </a:rPr>
              <a:t>Most Dangerous Software Errors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65FB874-0148-F6E9-CCDC-9CC71E8671E0}"/>
              </a:ext>
            </a:extLst>
          </p:cNvPr>
          <p:cNvSpPr txBox="1"/>
          <p:nvPr/>
        </p:nvSpPr>
        <p:spPr>
          <a:xfrm>
            <a:off x="9822426" y="6516368"/>
            <a:ext cx="2369574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GB" dirty="0">
                <a:solidFill>
                  <a:schemeClr val="bg1"/>
                </a:solidFill>
                <a:latin typeface="Gill Sans" panose="020B0602020204020204"/>
                <a:ea typeface="Roboto Light"/>
              </a:rPr>
              <a:t>Juan Ignacio Weyrauch</a:t>
            </a:r>
          </a:p>
        </p:txBody>
      </p:sp>
    </p:spTree>
    <p:extLst>
      <p:ext uri="{BB962C8B-B14F-4D97-AF65-F5344CB8AC3E}">
        <p14:creationId xmlns:p14="http://schemas.microsoft.com/office/powerpoint/2010/main" val="1135081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0B9B9-EDD3-C6F3-5573-66262FB8B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0F25AB-D1BC-1094-A8DE-1C9DC250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CWE-502: </a:t>
            </a:r>
            <a:br>
              <a:rPr lang="en-US" dirty="0"/>
            </a:br>
            <a:r>
              <a:rPr lang="en-US" dirty="0"/>
              <a:t>Deserialization of </a:t>
            </a:r>
            <a:br>
              <a:rPr lang="en-US" dirty="0"/>
            </a:br>
            <a:r>
              <a:rPr lang="en-US" dirty="0"/>
              <a:t>Untrusted Data</a:t>
            </a:r>
          </a:p>
        </p:txBody>
      </p:sp>
    </p:spTree>
    <p:extLst>
      <p:ext uri="{BB962C8B-B14F-4D97-AF65-F5344CB8AC3E}">
        <p14:creationId xmlns:p14="http://schemas.microsoft.com/office/powerpoint/2010/main" val="229368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F6EF8AD-4EE2-7C5A-731B-774C01BB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"/>
              </a:rPr>
              <a:t>CWE-502 - Deserialization of Untrusted Data</a:t>
            </a:r>
            <a:endParaRPr lang="en-US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B89F99A-9EBC-328B-8424-BD37F2A2A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273058"/>
              </p:ext>
            </p:extLst>
          </p:nvPr>
        </p:nvGraphicFramePr>
        <p:xfrm>
          <a:off x="757082" y="1177290"/>
          <a:ext cx="10677834" cy="4503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8917">
                  <a:extLst>
                    <a:ext uri="{9D8B030D-6E8A-4147-A177-3AD203B41FA5}">
                      <a16:colId xmlns:a16="http://schemas.microsoft.com/office/drawing/2014/main" val="3561349617"/>
                    </a:ext>
                  </a:extLst>
                </a:gridCol>
                <a:gridCol w="5338917">
                  <a:extLst>
                    <a:ext uri="{9D8B030D-6E8A-4147-A177-3AD203B41FA5}">
                      <a16:colId xmlns:a16="http://schemas.microsoft.com/office/drawing/2014/main" val="1207528233"/>
                    </a:ext>
                  </a:extLst>
                </a:gridCol>
              </a:tblGrid>
              <a:tr h="700959">
                <a:tc>
                  <a:txBody>
                    <a:bodyPr/>
                    <a:lstStyle/>
                    <a:p>
                      <a:r>
                        <a:rPr lang="es-UY" sz="2400" dirty="0"/>
                        <a:t>Serialización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UY" sz="2400" dirty="0"/>
                        <a:t>Deserialización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77123"/>
                  </a:ext>
                </a:extLst>
              </a:tr>
              <a:tr h="38024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Es el </a:t>
                      </a:r>
                      <a:r>
                        <a:rPr lang="en-US" sz="1800" dirty="0" err="1"/>
                        <a:t>proceso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convertir</a:t>
                      </a:r>
                      <a:r>
                        <a:rPr lang="en-US" sz="1800" dirty="0"/>
                        <a:t> un </a:t>
                      </a:r>
                      <a:r>
                        <a:rPr lang="en-US" sz="1800" dirty="0" err="1"/>
                        <a:t>objeto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en</a:t>
                      </a:r>
                      <a:r>
                        <a:rPr lang="en-US" sz="1800" dirty="0"/>
                        <a:t> memoria (</a:t>
                      </a:r>
                      <a:r>
                        <a:rPr lang="en-US" sz="1800" dirty="0" err="1"/>
                        <a:t>por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ejemplo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una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estructura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datos</a:t>
                      </a:r>
                      <a:r>
                        <a:rPr lang="en-US" sz="1800" dirty="0"/>
                        <a:t> o </a:t>
                      </a:r>
                      <a:r>
                        <a:rPr lang="en-US" sz="1800" dirty="0" err="1"/>
                        <a:t>una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clase</a:t>
                      </a:r>
                      <a:r>
                        <a:rPr lang="en-US" sz="1800" dirty="0"/>
                        <a:t>) </a:t>
                      </a:r>
                      <a:r>
                        <a:rPr lang="en-US" sz="1800" dirty="0" err="1"/>
                        <a:t>en</a:t>
                      </a:r>
                      <a:r>
                        <a:rPr lang="en-US" sz="1800" dirty="0"/>
                        <a:t> un </a:t>
                      </a:r>
                      <a:r>
                        <a:rPr lang="en-US" sz="1800" dirty="0" err="1"/>
                        <a:t>flujo</a:t>
                      </a:r>
                      <a:r>
                        <a:rPr lang="en-US" sz="1800" dirty="0"/>
                        <a:t> de bytes o </a:t>
                      </a:r>
                      <a:r>
                        <a:rPr lang="en-US" sz="1800" dirty="0" err="1"/>
                        <a:t>texto</a:t>
                      </a:r>
                      <a:r>
                        <a:rPr lang="en-US" sz="1800" dirty="0"/>
                        <a:t> (</a:t>
                      </a:r>
                      <a:r>
                        <a:rPr lang="en-US" sz="1800" dirty="0" err="1"/>
                        <a:t>como</a:t>
                      </a:r>
                      <a:r>
                        <a:rPr lang="en-US" sz="1800" dirty="0"/>
                        <a:t> JSON, XML o un </a:t>
                      </a:r>
                      <a:r>
                        <a:rPr lang="en-US" sz="1800" dirty="0" err="1"/>
                        <a:t>formato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binario</a:t>
                      </a:r>
                      <a:r>
                        <a:rPr lang="en-US" sz="1800" dirty="0"/>
                        <a:t>) para </a:t>
                      </a:r>
                      <a:r>
                        <a:rPr lang="en-US" sz="1800" dirty="0" err="1"/>
                        <a:t>guardarlo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en</a:t>
                      </a:r>
                      <a:r>
                        <a:rPr lang="en-US" sz="1800" dirty="0"/>
                        <a:t> un </a:t>
                      </a:r>
                      <a:r>
                        <a:rPr lang="en-US" sz="1800" dirty="0" err="1"/>
                        <a:t>archivo</a:t>
                      </a:r>
                      <a:r>
                        <a:rPr lang="en-US" sz="1800" dirty="0"/>
                        <a:t> o </a:t>
                      </a:r>
                      <a:r>
                        <a:rPr lang="en-US" sz="1800" dirty="0" err="1"/>
                        <a:t>enviarlo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por</a:t>
                      </a:r>
                      <a:r>
                        <a:rPr lang="en-US" sz="1800" dirty="0"/>
                        <a:t> la red.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Es el </a:t>
                      </a:r>
                      <a:r>
                        <a:rPr lang="en-US" dirty="0" err="1"/>
                        <a:t>proceso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inverso</a:t>
                      </a:r>
                      <a:r>
                        <a:rPr lang="en-US" dirty="0"/>
                        <a:t>; </a:t>
                      </a:r>
                      <a:r>
                        <a:rPr lang="en-US" dirty="0" err="1"/>
                        <a:t>toma</a:t>
                      </a:r>
                      <a:r>
                        <a:rPr lang="en-US" dirty="0"/>
                        <a:t> ese </a:t>
                      </a:r>
                      <a:r>
                        <a:rPr lang="en-US" dirty="0" err="1"/>
                        <a:t>flujo</a:t>
                      </a:r>
                      <a:r>
                        <a:rPr lang="en-US" dirty="0"/>
                        <a:t> de bytes y lo </a:t>
                      </a:r>
                      <a:r>
                        <a:rPr lang="en-US" dirty="0" err="1"/>
                        <a:t>reconstruye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como</a:t>
                      </a:r>
                      <a:r>
                        <a:rPr lang="en-US" dirty="0"/>
                        <a:t> un </a:t>
                      </a:r>
                      <a:r>
                        <a:rPr lang="en-US" dirty="0" err="1"/>
                        <a:t>objeto</a:t>
                      </a:r>
                      <a:r>
                        <a:rPr lang="en-US" dirty="0"/>
                        <a:t> utilizable </a:t>
                      </a:r>
                      <a:r>
                        <a:rPr lang="en-US" dirty="0" err="1"/>
                        <a:t>en</a:t>
                      </a:r>
                      <a:r>
                        <a:rPr lang="en-US" dirty="0"/>
                        <a:t> la memoria del </a:t>
                      </a:r>
                      <a:r>
                        <a:rPr lang="en-US" dirty="0" err="1"/>
                        <a:t>programa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480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573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420F16-FDCD-3DB4-C784-C5270481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"/>
              </a:rPr>
              <a:t>CWE-502 - Deserialization of Untrusted Data</a:t>
            </a:r>
            <a:endParaRPr lang="en-US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05151BF4-3DA4-86DE-D6DB-D328DD12A4E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11968550"/>
              </p:ext>
            </p:extLst>
          </p:nvPr>
        </p:nvGraphicFramePr>
        <p:xfrm>
          <a:off x="310861" y="1177288"/>
          <a:ext cx="11570275" cy="4682738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771399">
                  <a:extLst>
                    <a:ext uri="{9D8B030D-6E8A-4147-A177-3AD203B41FA5}">
                      <a16:colId xmlns:a16="http://schemas.microsoft.com/office/drawing/2014/main" val="350637318"/>
                    </a:ext>
                  </a:extLst>
                </a:gridCol>
                <a:gridCol w="8798876">
                  <a:extLst>
                    <a:ext uri="{9D8B030D-6E8A-4147-A177-3AD203B41FA5}">
                      <a16:colId xmlns:a16="http://schemas.microsoft.com/office/drawing/2014/main" val="364526755"/>
                    </a:ext>
                  </a:extLst>
                </a:gridCol>
              </a:tblGrid>
              <a:tr h="510209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Deserialization of Untrusted Data (</a:t>
                      </a:r>
                      <a:r>
                        <a:rPr lang="es-ES" dirty="0"/>
                        <a:t>Deserialización de datos no confiables)</a:t>
                      </a:r>
                      <a:endParaRPr lang="es-UY" dirty="0">
                        <a:latin typeface="Myriad Pr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153455"/>
                  </a:ext>
                </a:extLst>
              </a:tr>
              <a:tr h="510209">
                <a:tc>
                  <a:txBody>
                    <a:bodyPr/>
                    <a:lstStyle/>
                    <a:p>
                      <a:r>
                        <a:rPr lang="es-UY" dirty="0">
                          <a:latin typeface="Myriad Pro" panose="020B0503030403020204"/>
                        </a:rPr>
                        <a:t>Resumen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dirty="0">
                          <a:latin typeface="Myriad Pro" panose="020B0503030403020204"/>
                        </a:rPr>
                        <a:t>Reconstrucción de datos sin garantizar su validez.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463239"/>
                  </a:ext>
                </a:extLst>
              </a:tr>
              <a:tr h="880634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Descripción extendida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dirty="0">
                          <a:latin typeface="Myriad Pro"/>
                        </a:rPr>
                        <a:t>La reconstrucción de datos puede activar comportamientos inesperados/maliciosos antes de validar el resultado.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090916"/>
                  </a:ext>
                </a:extLst>
              </a:tr>
              <a:tr h="510209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Forma de introducción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dirty="0">
                          <a:latin typeface="Myriad Pro"/>
                        </a:rPr>
                        <a:t>Diseño e implementación: confiar en entradas que un tercero puede alterar.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878248"/>
                  </a:ext>
                </a:extLst>
              </a:tr>
              <a:tr h="880634">
                <a:tc>
                  <a:txBody>
                    <a:bodyPr/>
                    <a:lstStyle/>
                    <a:p>
                      <a:r>
                        <a:rPr lang="es-UY" dirty="0">
                          <a:latin typeface="Myriad Pro" panose="020B0503030403020204"/>
                        </a:rPr>
                        <a:t>Mitigaciones potenciales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dirty="0">
                          <a:latin typeface="Myriad Pro" panose="020B0503030403020204"/>
                        </a:rPr>
                        <a:t>Validar y construir el objeto explícitamente.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675723"/>
                  </a:ext>
                </a:extLst>
              </a:tr>
              <a:tr h="880634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Consecuencias comunes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dirty="0">
                          <a:latin typeface="Myriad Pro"/>
                        </a:rPr>
                        <a:t>Alteración de datos, ejecución de código inesperado, </a:t>
                      </a:r>
                      <a:r>
                        <a:rPr lang="es-UY" dirty="0" err="1">
                          <a:latin typeface="Myriad Pro"/>
                        </a:rPr>
                        <a:t>loops</a:t>
                      </a:r>
                      <a:r>
                        <a:rPr lang="es-UY" dirty="0">
                          <a:latin typeface="Myriad Pro"/>
                        </a:rPr>
                        <a:t> infinitos, y más dependiendo del contexto en el cuál se trabaje.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341302"/>
                  </a:ext>
                </a:extLst>
              </a:tr>
              <a:tr h="510209">
                <a:tc>
                  <a:txBody>
                    <a:bodyPr/>
                    <a:lstStyle/>
                    <a:p>
                      <a:r>
                        <a:rPr lang="es-UY">
                          <a:latin typeface="Myriad Pro" panose="020B0503030403020204"/>
                        </a:rPr>
                        <a:t>Plataformas aplicables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dirty="0">
                          <a:latin typeface="Myriad Pro" panose="020B0503030403020204"/>
                        </a:rPr>
                        <a:t>Java, Ruby, PHP, Python, </a:t>
                      </a:r>
                      <a:r>
                        <a:rPr lang="es-UY" dirty="0" err="1">
                          <a:latin typeface="Myriad Pro" panose="020B0503030403020204"/>
                        </a:rPr>
                        <a:t>JavaScritp</a:t>
                      </a:r>
                      <a:r>
                        <a:rPr lang="es-UY" dirty="0">
                          <a:latin typeface="Myriad Pro" panose="020B0503030403020204"/>
                        </a:rPr>
                        <a:t>. Clases de objetos. AI/ML.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60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52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703-6A5C-8FE5-EEC1-BD95E0C9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"/>
              </a:rPr>
              <a:t>CWE-502 - Deserialization of Untrusted Data</a:t>
            </a:r>
            <a:endParaRPr lang="es-UY" b="0" dirty="0">
              <a:latin typeface="Gill San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9E4BA-3685-53CE-FE72-DC093C46D1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r>
              <a:rPr lang="es-UY" i="1" dirty="0">
                <a:latin typeface="Myriad Pro"/>
                <a:ea typeface="Roboto Light"/>
              </a:rPr>
              <a:t>DEMO</a:t>
            </a:r>
          </a:p>
          <a:p>
            <a:endParaRPr lang="es-UY" i="1" dirty="0">
              <a:latin typeface="Myriad Pro"/>
              <a:ea typeface="Roboto Light"/>
            </a:endParaRPr>
          </a:p>
          <a:p>
            <a:r>
              <a:rPr lang="es-UY" sz="2000" dirty="0">
                <a:latin typeface="Myriad Pro"/>
                <a:ea typeface="Roboto Light"/>
              </a:rPr>
              <a:t>Importación de un personaje.</a:t>
            </a:r>
          </a:p>
          <a:p>
            <a:endParaRPr lang="en-US" dirty="0"/>
          </a:p>
        </p:txBody>
      </p:sp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848AA514-F393-E5E4-259C-201A4E92A820}"/>
              </a:ext>
            </a:extLst>
          </p:cNvPr>
          <p:cNvSpPr txBox="1"/>
          <p:nvPr/>
        </p:nvSpPr>
        <p:spPr>
          <a:xfrm>
            <a:off x="310861" y="6352143"/>
            <a:ext cx="880364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UY" dirty="0">
                <a:latin typeface="Myriad Pro"/>
                <a:ea typeface="Roboto Light"/>
                <a:hlinkClick r:id="rId3"/>
              </a:rPr>
              <a:t>https://github.com/Juan-Weyrauch/CWE-502-Deserialization-of-Untrusted-Data</a:t>
            </a:r>
            <a:endParaRPr lang="es-U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EAFE98-412B-5666-2210-0A6AA4A7660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defRPr sz="1950" b="0" i="0">
                <a:solidFill>
                  <a:srgbClr val="000000"/>
                </a:solidFill>
                <a:latin typeface="Gill Sans"/>
                <a:ea typeface="Gill Sans"/>
                <a:cs typeface="Gill Sans"/>
              </a:defRPr>
            </a:pPr>
            <a:r>
              <a:rPr lang="en-US" sz="2000" dirty="0">
                <a:latin typeface="Myriad Pro"/>
                <a:ea typeface="Roboto Light"/>
              </a:rPr>
              <a:t>1. Caso </a:t>
            </a:r>
            <a:r>
              <a:rPr lang="en-US" sz="2000" dirty="0" err="1">
                <a:latin typeface="Myriad Pro"/>
                <a:ea typeface="Roboto Light"/>
              </a:rPr>
              <a:t>legítimo</a:t>
            </a:r>
            <a:endParaRPr lang="en-US" sz="2000" dirty="0">
              <a:latin typeface="Myriad Pro"/>
              <a:ea typeface="Roboto Light"/>
            </a:endParaRPr>
          </a:p>
          <a:p>
            <a:pPr>
              <a:defRPr sz="1950" b="0" i="0">
                <a:solidFill>
                  <a:srgbClr val="000000"/>
                </a:solidFill>
                <a:latin typeface="Gill Sans"/>
                <a:ea typeface="Gill Sans"/>
                <a:cs typeface="Gill Sans"/>
              </a:defRPr>
            </a:pPr>
            <a:r>
              <a:rPr lang="en-US" sz="2000" dirty="0" err="1">
                <a:latin typeface="Myriad Pro"/>
                <a:ea typeface="Roboto Light"/>
              </a:rPr>
              <a:t>py</a:t>
            </a:r>
            <a:r>
              <a:rPr lang="en-US" sz="2000" dirty="0">
                <a:latin typeface="Myriad Pro"/>
                <a:ea typeface="Roboto Light"/>
              </a:rPr>
              <a:t> demo.py vulnerable </a:t>
            </a:r>
            <a:r>
              <a:rPr lang="en-US" sz="2000" dirty="0" err="1">
                <a:latin typeface="Myriad Pro"/>
                <a:ea typeface="Roboto Light"/>
              </a:rPr>
              <a:t>legitimo</a:t>
            </a:r>
            <a:endParaRPr lang="en-US" sz="2000" dirty="0">
              <a:latin typeface="Myriad Pro"/>
              <a:ea typeface="Roboto Light"/>
            </a:endParaRPr>
          </a:p>
          <a:p>
            <a:endParaRPr lang="en-US" sz="2000" dirty="0">
              <a:latin typeface="Myriad Pro"/>
              <a:ea typeface="Roboto Light"/>
            </a:endParaRPr>
          </a:p>
          <a:p>
            <a:pPr>
              <a:defRPr sz="1950" b="0" i="0">
                <a:solidFill>
                  <a:srgbClr val="000000"/>
                </a:solidFill>
                <a:latin typeface="Gill Sans"/>
                <a:ea typeface="Gill Sans"/>
                <a:cs typeface="Gill Sans"/>
              </a:defRPr>
            </a:pPr>
            <a:r>
              <a:rPr lang="en-US" sz="2000" dirty="0">
                <a:latin typeface="Myriad Pro"/>
                <a:ea typeface="Roboto Light"/>
              </a:rPr>
              <a:t>2. Entrada </a:t>
            </a:r>
            <a:r>
              <a:rPr lang="en-US" sz="2000" dirty="0" err="1">
                <a:latin typeface="Myriad Pro"/>
                <a:ea typeface="Roboto Light"/>
              </a:rPr>
              <a:t>preparada</a:t>
            </a:r>
            <a:endParaRPr lang="en-US" sz="2000" dirty="0">
              <a:latin typeface="Myriad Pro"/>
              <a:ea typeface="Roboto Light"/>
            </a:endParaRPr>
          </a:p>
          <a:p>
            <a:pPr>
              <a:defRPr sz="1950" b="0" i="0">
                <a:solidFill>
                  <a:srgbClr val="000000"/>
                </a:solidFill>
                <a:latin typeface="Gill Sans"/>
                <a:ea typeface="Gill Sans"/>
                <a:cs typeface="Gill Sans"/>
              </a:defRPr>
            </a:pPr>
            <a:r>
              <a:rPr lang="en-US" sz="2000" dirty="0" err="1">
                <a:latin typeface="Myriad Pro"/>
                <a:ea typeface="Roboto Light"/>
              </a:rPr>
              <a:t>py</a:t>
            </a:r>
            <a:r>
              <a:rPr lang="en-US" sz="2000" dirty="0">
                <a:latin typeface="Myriad Pro"/>
                <a:ea typeface="Roboto Light"/>
              </a:rPr>
              <a:t> demo.py vulnerable </a:t>
            </a:r>
            <a:r>
              <a:rPr lang="en-US" sz="2000" dirty="0" err="1">
                <a:latin typeface="Myriad Pro"/>
                <a:ea typeface="Roboto Light"/>
              </a:rPr>
              <a:t>manipulado</a:t>
            </a:r>
            <a:endParaRPr lang="en-US" sz="2000" dirty="0">
              <a:latin typeface="Myriad Pro"/>
              <a:ea typeface="Roboto Light"/>
            </a:endParaRPr>
          </a:p>
          <a:p>
            <a:endParaRPr lang="en-US" sz="2000" dirty="0">
              <a:latin typeface="Myriad Pro"/>
              <a:ea typeface="Roboto Light"/>
            </a:endParaRPr>
          </a:p>
          <a:p>
            <a:pPr>
              <a:defRPr sz="1950" b="0" i="0">
                <a:solidFill>
                  <a:srgbClr val="000000"/>
                </a:solidFill>
                <a:latin typeface="Gill Sans"/>
                <a:ea typeface="Gill Sans"/>
                <a:cs typeface="Gill Sans"/>
              </a:defRPr>
            </a:pPr>
            <a:r>
              <a:rPr lang="en-US" sz="2000" dirty="0">
                <a:latin typeface="Myriad Pro"/>
                <a:ea typeface="Roboto Light"/>
              </a:rPr>
              <a:t>3. </a:t>
            </a:r>
            <a:r>
              <a:rPr lang="en-US" sz="2000" dirty="0" err="1">
                <a:latin typeface="Myriad Pro"/>
                <a:ea typeface="Roboto Light"/>
              </a:rPr>
              <a:t>Versión</a:t>
            </a:r>
            <a:r>
              <a:rPr lang="en-US" sz="2000" dirty="0">
                <a:latin typeface="Myriad Pro"/>
                <a:ea typeface="Roboto Light"/>
              </a:rPr>
              <a:t> </a:t>
            </a:r>
            <a:r>
              <a:rPr lang="en-US" sz="2000" dirty="0" err="1">
                <a:latin typeface="Myriad Pro"/>
                <a:ea typeface="Roboto Light"/>
              </a:rPr>
              <a:t>mitigada</a:t>
            </a:r>
            <a:endParaRPr lang="en-US" sz="2000" dirty="0">
              <a:latin typeface="Myriad Pro"/>
              <a:ea typeface="Roboto Light"/>
            </a:endParaRPr>
          </a:p>
          <a:p>
            <a:pPr>
              <a:defRPr sz="1950" b="0" i="0">
                <a:solidFill>
                  <a:srgbClr val="000000"/>
                </a:solidFill>
                <a:latin typeface="Gill Sans"/>
                <a:ea typeface="Gill Sans"/>
                <a:cs typeface="Gill Sans"/>
              </a:defRPr>
            </a:pPr>
            <a:r>
              <a:rPr lang="en-US" sz="2000" dirty="0" err="1">
                <a:latin typeface="Myriad Pro"/>
                <a:ea typeface="Roboto Light"/>
              </a:rPr>
              <a:t>py</a:t>
            </a:r>
            <a:r>
              <a:rPr lang="en-US" sz="2000" dirty="0">
                <a:latin typeface="Myriad Pro"/>
                <a:ea typeface="Roboto Light"/>
              </a:rPr>
              <a:t> demo.py </a:t>
            </a:r>
            <a:r>
              <a:rPr lang="en-US" sz="2000" dirty="0" err="1">
                <a:latin typeface="Myriad Pro"/>
                <a:ea typeface="Roboto Light"/>
              </a:rPr>
              <a:t>mitigado</a:t>
            </a:r>
            <a:r>
              <a:rPr lang="en-US" sz="2000" dirty="0">
                <a:latin typeface="Myriad Pro"/>
                <a:ea typeface="Roboto Light"/>
              </a:rPr>
              <a:t> </a:t>
            </a:r>
            <a:r>
              <a:rPr lang="en-US" sz="2000" dirty="0" err="1">
                <a:latin typeface="Myriad Pro"/>
                <a:ea typeface="Roboto Light"/>
              </a:rPr>
              <a:t>legitimo</a:t>
            </a:r>
            <a:endParaRPr lang="en-US" sz="2000" dirty="0">
              <a:latin typeface="Myriad Pro"/>
              <a:ea typeface="Roboto Light"/>
            </a:endParaRPr>
          </a:p>
          <a:p>
            <a:pPr>
              <a:defRPr sz="1950" b="0" i="0">
                <a:solidFill>
                  <a:srgbClr val="000000"/>
                </a:solidFill>
                <a:latin typeface="Gill Sans"/>
                <a:ea typeface="Gill Sans"/>
                <a:cs typeface="Gill Sans"/>
              </a:defRPr>
            </a:pPr>
            <a:r>
              <a:rPr lang="en-US" sz="2000" dirty="0" err="1">
                <a:latin typeface="Myriad Pro"/>
                <a:ea typeface="Roboto Light"/>
              </a:rPr>
              <a:t>py</a:t>
            </a:r>
            <a:r>
              <a:rPr lang="en-US" sz="2000" dirty="0">
                <a:latin typeface="Myriad Pro"/>
                <a:ea typeface="Roboto Light"/>
              </a:rPr>
              <a:t> demo.py </a:t>
            </a:r>
            <a:r>
              <a:rPr lang="en-US" sz="2000" dirty="0" err="1">
                <a:latin typeface="Myriad Pro"/>
                <a:ea typeface="Roboto Light"/>
              </a:rPr>
              <a:t>mitigado</a:t>
            </a:r>
            <a:r>
              <a:rPr lang="en-US" sz="2000" dirty="0">
                <a:latin typeface="Myriad Pro"/>
                <a:ea typeface="Roboto Light"/>
              </a:rPr>
              <a:t> </a:t>
            </a:r>
            <a:r>
              <a:rPr lang="en-US" sz="2000" dirty="0" err="1">
                <a:latin typeface="Myriad Pro"/>
                <a:ea typeface="Roboto Light"/>
              </a:rPr>
              <a:t>texto</a:t>
            </a:r>
            <a:endParaRPr lang="en-US" sz="2000" dirty="0">
              <a:latin typeface="Myriad Pro"/>
              <a:ea typeface="Roboto Ligh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775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122E2-1E51-375E-D7BF-B0F7B6056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"/>
              </a:rPr>
              <a:t>CWE-502 - Deserialization of Untrusted Data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7BFEE3-1A83-B03F-260E-51132AD03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42724" y="2227059"/>
            <a:ext cx="5306552" cy="2403881"/>
          </a:xfrm>
        </p:spPr>
        <p:txBody>
          <a:bodyPr/>
          <a:lstStyle/>
          <a:p>
            <a:pPr algn="ctr"/>
            <a:r>
              <a:rPr lang="es-UY" sz="5400" dirty="0"/>
              <a:t>Mitigaciones </a:t>
            </a:r>
          </a:p>
          <a:p>
            <a:pPr algn="ctr"/>
            <a:r>
              <a:rPr lang="es-UY" sz="5400" dirty="0"/>
              <a:t>y recomendaciones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5410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6D29-1287-208D-9F23-9371B9EB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7F92A926-8435-5FA0-F46F-E485C9504986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2031224547"/>
              </p:ext>
            </p:extLst>
          </p:nvPr>
        </p:nvGraphicFramePr>
        <p:xfrm>
          <a:off x="396465" y="317499"/>
          <a:ext cx="11399070" cy="5670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3625">
                  <a:extLst>
                    <a:ext uri="{9D8B030D-6E8A-4147-A177-3AD203B41FA5}">
                      <a16:colId xmlns:a16="http://schemas.microsoft.com/office/drawing/2014/main" val="1491148936"/>
                    </a:ext>
                  </a:extLst>
                </a:gridCol>
                <a:gridCol w="6525445">
                  <a:extLst>
                    <a:ext uri="{9D8B030D-6E8A-4147-A177-3AD203B41FA5}">
                      <a16:colId xmlns:a16="http://schemas.microsoft.com/office/drawing/2014/main" val="4268144299"/>
                    </a:ext>
                  </a:extLst>
                </a:gridCol>
              </a:tblGrid>
              <a:tr h="409837">
                <a:tc>
                  <a:txBody>
                    <a:bodyPr/>
                    <a:lstStyle/>
                    <a:p>
                      <a:r>
                        <a:rPr lang="en-US" dirty="0" err="1"/>
                        <a:t>Mitigaci</a:t>
                      </a:r>
                      <a:r>
                        <a:rPr lang="es-UY" dirty="0" err="1"/>
                        <a:t>ón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dirty="0"/>
                        <a:t>Explicación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739671"/>
                  </a:ext>
                </a:extLst>
              </a:tr>
              <a:tr h="1010557">
                <a:tc>
                  <a:txBody>
                    <a:bodyPr/>
                    <a:lstStyle/>
                    <a:p>
                      <a:r>
                        <a:rPr lang="es-UY" dirty="0"/>
                        <a:t>Verificar firmas o HMAC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Comprobar que los datos no fueron alterados, antes de </a:t>
                      </a:r>
                      <a:r>
                        <a:rPr lang="es-ES" dirty="0" err="1"/>
                        <a:t>deserializarlos</a:t>
                      </a:r>
                      <a:r>
                        <a:rPr lang="es-ES" dirty="0"/>
                        <a:t>. Requiere proteger las claves y confiar en quien genera los mensajes. (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hash-based message authentication code)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676219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r>
                        <a:rPr lang="es-UY" b="1" dirty="0"/>
                        <a:t>Construir un objeto nuevo con datos variables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Leer los datos de forma segura, comprobarlos y crear el objeto desde el código de la aplicación.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868835"/>
                  </a:ext>
                </a:extLst>
              </a:tr>
              <a:tr h="409837">
                <a:tc>
                  <a:txBody>
                    <a:bodyPr/>
                    <a:lstStyle/>
                    <a:p>
                      <a:r>
                        <a:rPr lang="es-UY" dirty="0"/>
                        <a:t>Impedir la deserialización de ciertas clases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Rechazar su reconstrucción cuando no debería permitirse.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20454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r>
                        <a:rPr lang="es-UY" dirty="0"/>
                        <a:t>Excluir campos sensibles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Evitar que ciertos atributos se guarden y restauren mediante serialización. Por ejemplo, usando </a:t>
                      </a:r>
                      <a:r>
                        <a:rPr lang="es-ES" dirty="0" err="1"/>
                        <a:t>transient</a:t>
                      </a:r>
                      <a:r>
                        <a:rPr lang="es-ES" dirty="0"/>
                        <a:t> en Java.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740094"/>
                  </a:ext>
                </a:extLst>
              </a:tr>
              <a:tr h="1010557">
                <a:tc>
                  <a:txBody>
                    <a:bodyPr/>
                    <a:lstStyle/>
                    <a:p>
                      <a:r>
                        <a:rPr lang="es-UY" dirty="0"/>
                        <a:t>Limitar las clases disponibles y permitidas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Aceptar solo los tipos necesarios y reducir componentes aprovechables para activar llamadas peligrosas. Una lista permitida, por sí sola, no garantiza seguridad.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238795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r>
                        <a:rPr lang="es-UY" dirty="0"/>
                        <a:t>Aplicar protección criptográfica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Proteger datos o código. Si la protección depende de un cliente comprometido, puede perder su eficacia.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555972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r>
                        <a:rPr lang="es-UY" dirty="0"/>
                        <a:t>Usar firewall de aplicación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Filtrar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posibles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ataques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como</a:t>
                      </a:r>
                      <a:r>
                        <a:rPr lang="en-US" dirty="0"/>
                        <a:t> defensa </a:t>
                      </a:r>
                      <a:r>
                        <a:rPr lang="en-US" dirty="0" err="1"/>
                        <a:t>adicional</a:t>
                      </a:r>
                      <a:r>
                        <a:rPr lang="en-US" dirty="0"/>
                        <a:t> o temporal. </a:t>
                      </a:r>
                      <a:r>
                        <a:rPr lang="en-US" dirty="0" err="1"/>
                        <a:t>Puede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dejar</a:t>
                      </a:r>
                      <a:r>
                        <a:rPr lang="en-US" dirty="0"/>
                        <a:t> pasar </a:t>
                      </a:r>
                      <a:r>
                        <a:rPr lang="en-US" dirty="0" err="1"/>
                        <a:t>ataques</a:t>
                      </a:r>
                      <a:r>
                        <a:rPr lang="en-US" dirty="0"/>
                        <a:t> o </a:t>
                      </a:r>
                      <a:r>
                        <a:rPr lang="en-US" dirty="0" err="1"/>
                        <a:t>bloquear</a:t>
                      </a:r>
                      <a:r>
                        <a:rPr lang="en-US" dirty="0"/>
                        <a:t> entradas </a:t>
                      </a:r>
                      <a:r>
                        <a:rPr lang="en-US" dirty="0" err="1"/>
                        <a:t>legítimas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771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337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AE782-4BC5-7411-0B3D-A1DA3382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8C5805-9D1F-781B-C698-EDC2DBD5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Gracias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atención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3361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2.0-DSS-TEMPLATE SANS Top 25.pptx" id="{9CC88499-4DF2-4319-8A3D-BAF0512D9472}" vid="{B09C30F6-BB47-4EF6-A3FD-3F0DDC8E8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8CA2CDEE0E8F4CACF6B95D3EF4C3B3" ma:contentTypeVersion="10" ma:contentTypeDescription="Create a new document." ma:contentTypeScope="" ma:versionID="73cc914fdf7996e7a618a83ebac81fd4">
  <xsd:schema xmlns:xsd="http://www.w3.org/2001/XMLSchema" xmlns:xs="http://www.w3.org/2001/XMLSchema" xmlns:p="http://schemas.microsoft.com/office/2006/metadata/properties" xmlns:ns2="bd4eda2a-3846-448a-b7a7-16e4dd1728c0" xmlns:ns3="b515cc93-823d-49e8-800c-c05db2f17c28" targetNamespace="http://schemas.microsoft.com/office/2006/metadata/properties" ma:root="true" ma:fieldsID="ca03da4c0f32a0ae05fe5bd68ee5a7b2" ns2:_="" ns3:_="">
    <xsd:import namespace="bd4eda2a-3846-448a-b7a7-16e4dd1728c0"/>
    <xsd:import namespace="b515cc93-823d-49e8-800c-c05db2f17c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eda2a-3846-448a-b7a7-16e4dd1728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765f979-277d-4bf9-9582-0bf89623a9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15cc93-823d-49e8-800c-c05db2f17c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1af4886-9b19-465b-9e1f-37e13c7617fe}" ma:internalName="TaxCatchAll" ma:showField="CatchAllData" ma:web="b515cc93-823d-49e8-800c-c05db2f17c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15cc93-823d-49e8-800c-c05db2f17c28" xsi:nil="true"/>
    <lcf76f155ced4ddcb4097134ff3c332f xmlns="bd4eda2a-3846-448a-b7a7-16e4dd1728c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7F3C360-5A75-47F3-9C9D-34508B1338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7596A9-359D-4684-8B47-659099474E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4eda2a-3846-448a-b7a7-16e4dd1728c0"/>
    <ds:schemaRef ds:uri="b515cc93-823d-49e8-800c-c05db2f17c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BA519C-7729-414F-A3E6-40E37993701E}">
  <ds:schemaRefs>
    <ds:schemaRef ds:uri="http://purl.org/dc/terms/"/>
    <ds:schemaRef ds:uri="http://schemas.microsoft.com/office/2006/documentManagement/types"/>
    <ds:schemaRef ds:uri="b515cc93-823d-49e8-800c-c05db2f17c28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bd4eda2a-3846-448a-b7a7-16e4dd1728c0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2026 2.0-DSS-TEMPLATE SANS Top 25 (1)</Template>
  <TotalTime>188</TotalTime>
  <Words>481</Words>
  <Application>Microsoft Office PowerPoint</Application>
  <PresentationFormat>Panorámica</PresentationFormat>
  <Paragraphs>66</Paragraphs>
  <Slides>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Gill Sans</vt:lpstr>
      <vt:lpstr>Myriad Pro</vt:lpstr>
      <vt:lpstr>Roboto Light</vt:lpstr>
      <vt:lpstr>Tema de Office</vt:lpstr>
      <vt:lpstr>Desarrollo Seguro de Software CWE/SANS TOP 25</vt:lpstr>
      <vt:lpstr>CWE-502:  Deserialization of  Untrusted Data</vt:lpstr>
      <vt:lpstr>CWE-502 - Deserialization of Untrusted Data</vt:lpstr>
      <vt:lpstr>CWE-502 - Deserialization of Untrusted Data</vt:lpstr>
      <vt:lpstr>CWE-502 - Deserialization of Untrusted Data</vt:lpstr>
      <vt:lpstr>CWE-502 - Deserialization of Untrusted Data</vt:lpstr>
      <vt:lpstr>Presentación de PowerPoint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Ignacio Weyrauch</dc:creator>
  <cp:lastModifiedBy>Juan Ignacio Weyrauch</cp:lastModifiedBy>
  <cp:revision>4</cp:revision>
  <dcterms:created xsi:type="dcterms:W3CDTF">2026-10-15T02:42:42Z</dcterms:created>
  <dcterms:modified xsi:type="dcterms:W3CDTF">2026-10-15T20:17:47Z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0x0101006F8CA2CDEE0E8F4CACF6B95D3EF4C3B3</vt:lpwstr>
  </property>
  <property fmtid="{D5CDD505-2E9C-101B-9397-08002B2CF9AE}" pid="3" name="Area">
    <vt:lpwstr/>
  </property>
  <property fmtid="{D5CDD505-2E9C-101B-9397-08002B2CF9AE}" pid="4" name="xd_ProgID">
    <vt:lpwstr/>
  </property>
  <property fmtid="{D5CDD505-2E9C-101B-9397-08002B2CF9AE}" pid="5" name="MediaServiceImageTags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