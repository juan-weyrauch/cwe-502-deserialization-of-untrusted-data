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59" r:id="rId5"/>
    <p:sldId id="310" r:id="rId6"/>
    <p:sldId id="311" r:id="rId7"/>
    <p:sldId id="312" r:id="rId8"/>
    <p:sldId id="313" r:id="rId9"/>
    <p:sldId id="314" r:id="rId10"/>
  </p:sldIdLst>
  <p:sldSz cx="12192000" cy="6858000"/>
  <p:notesSz cx="6858000" cy="9144000"/>
  <p:defaultTextStyle>
    <a:defPPr>
      <a:defRPr lang="es-E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mbre del Punto" id="{B5B95F0C-5173-4023-9D0D-06A708917213}">
          <p14:sldIdLst>
            <p14:sldId id="259"/>
            <p14:sldId id="310"/>
            <p14:sldId id="311"/>
            <p14:sldId id="312"/>
            <p14:sldId id="313"/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B7B495-6B6F-2486-5C2C-42C6FB0CFC23}" v="245" dt="2026-08-15T23:25:31.468"/>
    <p1510:client id="{C399E4A8-BBD8-BE71-0596-789DB10B13AF}" v="17" dt="2026-08-15T21:38:00.066"/>
    <p1510:client id="{DC5A9C09-2E68-1404-2BE8-D5D4F80FA032}" v="6" dt="2026-08-15T23:17:05.6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DBED569-4797-4DF1-A0F4-6AAB3CD982D8}" styleName="Estilo claro 3 - Acento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Estilo medio 1 - Énfasis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D63A25-737D-45C4-8237-2D50875A0638}" type="datetimeFigureOut">
              <a:rPr lang="es-UY" smtClean="0"/>
              <a:t>15/10/2026</a:t>
            </a:fld>
            <a:endParaRPr lang="es-U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U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CAE46B-1B9D-4E25-8FD8-0FC7AA498ECF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43105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>
              <a:highlight>
                <a:srgbClr val="FFFFFF"/>
              </a:highlight>
              <a:latin typeface="Aptos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CAE46B-1B9D-4E25-8FD8-0FC7AA498ECF}" type="slidenum">
              <a:rPr lang="es-UY" smtClean="0"/>
              <a:t>1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4032161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68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Y" dirty="0"/>
              <a:t>Aquí se pone punto a </a:t>
            </a:r>
            <a:r>
              <a:rPr lang="es-UY" dirty="0" err="1"/>
              <a:t>punt</a:t>
            </a:r>
            <a:r>
              <a:rPr lang="es-UY"/>
              <a:t>o los detalles de la demo</a:t>
            </a:r>
            <a:endParaRPr lang="es-U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332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0372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7D77-251F-FB4C-17CA-2C7C84F58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3E01B-286C-AD8A-FC70-E175008E7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2A113-7BB0-A5BA-ECF5-A356F59965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C485-7743-03C9-785D-DA4E76CE9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8510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Diapositiva de título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625799"/>
            <a:ext cx="9144000" cy="990216"/>
          </a:xfrm>
        </p:spPr>
        <p:txBody>
          <a:bodyPr anchor="b">
            <a:normAutofit/>
          </a:bodyPr>
          <a:lstStyle>
            <a:lvl1pPr algn="ctr">
              <a:defRPr sz="5000" baseline="0">
                <a:solidFill>
                  <a:schemeClr val="bg1"/>
                </a:solidFill>
                <a:latin typeface="Gill Sans" panose="020B0602020204020204" pitchFamily="34" charset="0"/>
                <a:ea typeface="Roboto" panose="02000000000000000000" pitchFamily="2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824705"/>
            <a:ext cx="9144000" cy="662152"/>
          </a:xfrm>
        </p:spPr>
        <p:txBody>
          <a:bodyPr>
            <a:noAutofit/>
          </a:bodyPr>
          <a:lstStyle>
            <a:lvl1pPr marL="0" indent="0" algn="ctr">
              <a:buNone/>
              <a:defRPr sz="2600" baseline="0">
                <a:solidFill>
                  <a:schemeClr val="bg1"/>
                </a:solidFill>
                <a:latin typeface="Gill Sans" panose="020B0602020204020204"/>
                <a:ea typeface="Roboto Light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59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2301765"/>
            <a:ext cx="6802821" cy="2554013"/>
          </a:xfrm>
        </p:spPr>
        <p:txBody>
          <a:bodyPr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Gill Sans" panose="020B0602020204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1564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os objetos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F5468AAE-DF5E-E2E9-084F-8217020E7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62" y="136525"/>
            <a:ext cx="11570275" cy="1040765"/>
          </a:xfrm>
        </p:spPr>
        <p:txBody>
          <a:bodyPr>
            <a:normAutofit/>
          </a:bodyPr>
          <a:lstStyle>
            <a:lvl1pPr>
              <a:defRPr sz="2800">
                <a:latin typeface="Gill Sans" panose="020B0602020204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6E2A41-5D30-D169-A124-067A7B3EA5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0862" y="1268083"/>
            <a:ext cx="5581291" cy="4787660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D77D754F-5ACE-EE71-27BE-A7D174031C37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70113" y="1268082"/>
            <a:ext cx="5911025" cy="4787661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8" name="Date Placeholder 5">
            <a:extLst>
              <a:ext uri="{FF2B5EF4-FFF2-40B4-BE49-F238E27FC236}">
                <a16:creationId xmlns:a16="http://schemas.microsoft.com/office/drawing/2014/main" id="{85F0FBA1-852F-98E4-6AB3-5D09E746B21F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10862" y="6356350"/>
            <a:ext cx="2743200" cy="365125"/>
          </a:xfrm>
        </p:spPr>
        <p:txBody>
          <a:bodyPr/>
          <a:lstStyle/>
          <a:p>
            <a:pPr>
              <a:defRPr/>
            </a:pPr>
            <a:fld id="{0694217E-8BC5-4DDC-A7B6-FA99388452D0}" type="datetimeFigureOut">
              <a:rPr lang="es-ES" smtClean="0"/>
              <a:pPr>
                <a:defRPr/>
              </a:pPr>
              <a:t>15/10/2026</a:t>
            </a:fld>
            <a:endParaRPr lang="es-ES"/>
          </a:p>
        </p:txBody>
      </p:sp>
      <p:sp>
        <p:nvSpPr>
          <p:cNvPr id="9" name="Footer Placeholder 6">
            <a:extLst>
              <a:ext uri="{FF2B5EF4-FFF2-40B4-BE49-F238E27FC236}">
                <a16:creationId xmlns:a16="http://schemas.microsoft.com/office/drawing/2014/main" id="{71A9AF1A-BE77-FC0C-92DF-5E52C4EC839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10" name="Slide Number Placeholder 7">
            <a:extLst>
              <a:ext uri="{FF2B5EF4-FFF2-40B4-BE49-F238E27FC236}">
                <a16:creationId xmlns:a16="http://schemas.microsoft.com/office/drawing/2014/main" id="{4183B17B-0854-8B96-1177-1D2FCC3F676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37938" y="6356350"/>
            <a:ext cx="2743200" cy="365125"/>
          </a:xfrm>
        </p:spPr>
        <p:txBody>
          <a:bodyPr/>
          <a:lstStyle/>
          <a:p>
            <a:pPr>
              <a:defRPr/>
            </a:pPr>
            <a:fld id="{11DF6312-B1DF-40E8-9163-B4108E4D7ADA}" type="slidenum">
              <a:rPr lang="es-ES" smtClean="0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2247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Un objeto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F5468AAE-DF5E-E2E9-084F-8217020E7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62" y="136525"/>
            <a:ext cx="11570275" cy="1040765"/>
          </a:xfrm>
        </p:spPr>
        <p:txBody>
          <a:bodyPr>
            <a:normAutofit/>
          </a:bodyPr>
          <a:lstStyle>
            <a:lvl1pPr>
              <a:defRPr sz="2800">
                <a:latin typeface="Gill Sans" panose="020B0602020204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6E2A41-5D30-D169-A124-067A7B3EA5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0862" y="1268083"/>
            <a:ext cx="11570275" cy="4804913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8" name="Date Placeholder 5">
            <a:extLst>
              <a:ext uri="{FF2B5EF4-FFF2-40B4-BE49-F238E27FC236}">
                <a16:creationId xmlns:a16="http://schemas.microsoft.com/office/drawing/2014/main" id="{85F0FBA1-852F-98E4-6AB3-5D09E746B21F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10862" y="6356350"/>
            <a:ext cx="2743200" cy="365125"/>
          </a:xfrm>
        </p:spPr>
        <p:txBody>
          <a:bodyPr/>
          <a:lstStyle/>
          <a:p>
            <a:pPr>
              <a:defRPr/>
            </a:pPr>
            <a:fld id="{0694217E-8BC5-4DDC-A7B6-FA99388452D0}" type="datetimeFigureOut">
              <a:rPr lang="es-ES" smtClean="0"/>
              <a:pPr>
                <a:defRPr/>
              </a:pPr>
              <a:t>15/10/2026</a:t>
            </a:fld>
            <a:endParaRPr lang="es-ES"/>
          </a:p>
        </p:txBody>
      </p:sp>
      <p:sp>
        <p:nvSpPr>
          <p:cNvPr id="9" name="Footer Placeholder 6">
            <a:extLst>
              <a:ext uri="{FF2B5EF4-FFF2-40B4-BE49-F238E27FC236}">
                <a16:creationId xmlns:a16="http://schemas.microsoft.com/office/drawing/2014/main" id="{71A9AF1A-BE77-FC0C-92DF-5E52C4EC839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10" name="Slide Number Placeholder 7">
            <a:extLst>
              <a:ext uri="{FF2B5EF4-FFF2-40B4-BE49-F238E27FC236}">
                <a16:creationId xmlns:a16="http://schemas.microsoft.com/office/drawing/2014/main" id="{4183B17B-0854-8B96-1177-1D2FCC3F676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37938" y="6356350"/>
            <a:ext cx="2743200" cy="365125"/>
          </a:xfrm>
        </p:spPr>
        <p:txBody>
          <a:bodyPr/>
          <a:lstStyle/>
          <a:p>
            <a:pPr>
              <a:defRPr/>
            </a:pPr>
            <a:fld id="{11DF6312-B1DF-40E8-9163-B4108E4D7ADA}" type="slidenum">
              <a:rPr lang="es-ES" smtClean="0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226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modificar el estilo de título del patrón</a:t>
            </a:r>
          </a:p>
        </p:txBody>
      </p:sp>
      <p:sp>
        <p:nvSpPr>
          <p:cNvPr id="1027" name="Marcador de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Editar el estilo de texto del patrón</a:t>
            </a:r>
          </a:p>
          <a:p>
            <a:pPr lvl="1"/>
            <a:r>
              <a:rPr lang="es-ES" altLang="es-ES"/>
              <a:t>Segundo nivel</a:t>
            </a:r>
          </a:p>
          <a:p>
            <a:pPr lvl="2"/>
            <a:r>
              <a:rPr lang="es-ES" altLang="es-ES"/>
              <a:t>Tercer nivel</a:t>
            </a:r>
          </a:p>
          <a:p>
            <a:pPr lvl="3"/>
            <a:r>
              <a:rPr lang="es-ES" altLang="es-ES"/>
              <a:t>Cuarto nivel</a:t>
            </a:r>
          </a:p>
          <a:p>
            <a:pPr lvl="4"/>
            <a:r>
              <a:rPr lang="es-ES" alt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694217E-8BC5-4DDC-A7B6-FA99388452D0}" type="datetimeFigureOut">
              <a:rPr lang="es-ES"/>
              <a:pPr>
                <a:defRPr/>
              </a:pPr>
              <a:t>15/10/2026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1DF6312-B1DF-40E8-9163-B4108E4D7ADA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A6B1D93-CCC0-7B13-5A58-DBC61A4F7B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n-001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	</a:t>
            </a:r>
            <a:endParaRPr kumimoji="0" lang="es-ES" altLang="en-001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C9E29807-E77B-1D69-A3C8-F430E07780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096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00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6" r:id="rId1"/>
    <p:sldLayoutId id="2147483801" r:id="rId2"/>
    <p:sldLayoutId id="2147483807" r:id="rId3"/>
    <p:sldLayoutId id="2147483817" r:id="rId4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b="1" kern="1200">
          <a:solidFill>
            <a:schemeClr val="tx1"/>
          </a:solidFill>
          <a:latin typeface="Gill Sans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625799"/>
            <a:ext cx="9144000" cy="99021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s-ES"/>
              <a:t>Desarrollo Seguro de Software</a:t>
            </a:r>
            <a:br>
              <a:rPr lang="es-ES"/>
            </a:br>
            <a:r>
              <a:rPr lang="es-ES"/>
              <a:t>CWE/SANS TOP 25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824705"/>
            <a:ext cx="9144000" cy="990216"/>
          </a:xfrm>
        </p:spPr>
        <p:txBody>
          <a:bodyPr/>
          <a:lstStyle/>
          <a:p>
            <a:r>
              <a:rPr lang="en-GB" dirty="0">
                <a:ea typeface="Roboto Light"/>
              </a:rPr>
              <a:t>Most Dangerous Software Errors</a:t>
            </a:r>
          </a:p>
          <a:p>
            <a:r>
              <a:rPr lang="en-GB" dirty="0">
                <a:ea typeface="Roboto Light"/>
              </a:rPr>
              <a:t>CWE - 502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65FB874-0148-F6E9-CCDC-9CC71E8671E0}"/>
              </a:ext>
            </a:extLst>
          </p:cNvPr>
          <p:cNvSpPr txBox="1"/>
          <p:nvPr/>
        </p:nvSpPr>
        <p:spPr>
          <a:xfrm>
            <a:off x="9822426" y="6516368"/>
            <a:ext cx="2369574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GB" dirty="0">
                <a:solidFill>
                  <a:schemeClr val="bg1"/>
                </a:solidFill>
                <a:latin typeface="Gill Sans" panose="020B0602020204020204"/>
                <a:ea typeface="Roboto Light"/>
              </a:rPr>
              <a:t>Juan Ignacio Weyrauch</a:t>
            </a:r>
          </a:p>
        </p:txBody>
      </p:sp>
    </p:spTree>
    <p:extLst>
      <p:ext uri="{BB962C8B-B14F-4D97-AF65-F5344CB8AC3E}">
        <p14:creationId xmlns:p14="http://schemas.microsoft.com/office/powerpoint/2010/main" val="1135081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0B9B9-EDD3-C6F3-5573-66262FB8B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0F25AB-D1BC-1094-A8DE-1C9DC250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CWE-502 - </a:t>
            </a:r>
            <a:br>
              <a:rPr lang="en-US" dirty="0"/>
            </a:br>
            <a:r>
              <a:rPr lang="en-US" dirty="0"/>
              <a:t>Deserialization of </a:t>
            </a:r>
            <a:br>
              <a:rPr lang="en-US" dirty="0"/>
            </a:br>
            <a:r>
              <a:rPr lang="en-US" dirty="0"/>
              <a:t>Untrusted Data</a:t>
            </a:r>
          </a:p>
        </p:txBody>
      </p:sp>
    </p:spTree>
    <p:extLst>
      <p:ext uri="{BB962C8B-B14F-4D97-AF65-F5344CB8AC3E}">
        <p14:creationId xmlns:p14="http://schemas.microsoft.com/office/powerpoint/2010/main" val="2293683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420F16-FDCD-3DB4-C784-C52704810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"/>
              </a:rPr>
              <a:t>CWE-502 - Deserialization of Untrusted Data</a:t>
            </a:r>
            <a:endParaRPr lang="en-US" dirty="0"/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05151BF4-3DA4-86DE-D6DB-D328DD12A4E9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111968550"/>
              </p:ext>
            </p:extLst>
          </p:nvPr>
        </p:nvGraphicFramePr>
        <p:xfrm>
          <a:off x="310861" y="1177288"/>
          <a:ext cx="11570275" cy="4682738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771399">
                  <a:extLst>
                    <a:ext uri="{9D8B030D-6E8A-4147-A177-3AD203B41FA5}">
                      <a16:colId xmlns:a16="http://schemas.microsoft.com/office/drawing/2014/main" val="350637318"/>
                    </a:ext>
                  </a:extLst>
                </a:gridCol>
                <a:gridCol w="8798876">
                  <a:extLst>
                    <a:ext uri="{9D8B030D-6E8A-4147-A177-3AD203B41FA5}">
                      <a16:colId xmlns:a16="http://schemas.microsoft.com/office/drawing/2014/main" val="364526755"/>
                    </a:ext>
                  </a:extLst>
                </a:gridCol>
              </a:tblGrid>
              <a:tr h="510209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Deserialization of Untrusted Data (</a:t>
                      </a:r>
                      <a:r>
                        <a:rPr lang="es-ES" dirty="0"/>
                        <a:t>Deserialización de datos no confiables)</a:t>
                      </a:r>
                      <a:endParaRPr lang="es-UY" dirty="0">
                        <a:latin typeface="Myriad Pro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4153455"/>
                  </a:ext>
                </a:extLst>
              </a:tr>
              <a:tr h="510209"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 panose="020B0503030403020204"/>
                        </a:rPr>
                        <a:t>Resumen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 panose="020B0503030403020204"/>
                        </a:rPr>
                        <a:t>Reconstrucción de datos sin garantizar su validez.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3239"/>
                  </a:ext>
                </a:extLst>
              </a:tr>
              <a:tr h="880634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Descripción extendida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/>
                        </a:rPr>
                        <a:t>La reconstrucción de datos puede activar comportamientos inesperados/maliciosos antes de validar el resultado.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090916"/>
                  </a:ext>
                </a:extLst>
              </a:tr>
              <a:tr h="510209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Forma de introducción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/>
                        </a:rPr>
                        <a:t>Diseño e implementación: confiar en entradas que un tercero puede alterar.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878248"/>
                  </a:ext>
                </a:extLst>
              </a:tr>
              <a:tr h="880634"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 panose="020B0503030403020204"/>
                        </a:rPr>
                        <a:t>Mitigaciones potenciales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 panose="020B0503030403020204"/>
                        </a:rPr>
                        <a:t>Validar y construir el objeto explícitamente.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675723"/>
                  </a:ext>
                </a:extLst>
              </a:tr>
              <a:tr h="880634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Consecuencias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/>
                        </a:rPr>
                        <a:t>Alteración de datos, ejecución de código inesperado, </a:t>
                      </a:r>
                      <a:r>
                        <a:rPr lang="es-UY" dirty="0" err="1">
                          <a:latin typeface="Myriad Pro"/>
                        </a:rPr>
                        <a:t>loops</a:t>
                      </a:r>
                      <a:r>
                        <a:rPr lang="es-UY" dirty="0">
                          <a:latin typeface="Myriad Pro"/>
                        </a:rPr>
                        <a:t> infinitos, y más dependiendo del contexto en el cuál se trabaje.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2341302"/>
                  </a:ext>
                </a:extLst>
              </a:tr>
              <a:tr h="510209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Plataformas aplicables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UY" dirty="0">
                          <a:latin typeface="Myriad Pro" panose="020B0503030403020204"/>
                        </a:rPr>
                        <a:t>Java, Ruby, PHP, Python, </a:t>
                      </a:r>
                      <a:r>
                        <a:rPr lang="es-UY" dirty="0" err="1">
                          <a:latin typeface="Myriad Pro" panose="020B0503030403020204"/>
                        </a:rPr>
                        <a:t>JavaScritp</a:t>
                      </a:r>
                      <a:r>
                        <a:rPr lang="es-UY" dirty="0">
                          <a:latin typeface="Myriad Pro" panose="020B0503030403020204"/>
                        </a:rPr>
                        <a:t>. Clases de objetos. AI/ML.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609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525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7703-6A5C-8FE5-EEC1-BD95E0C9E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"/>
              </a:rPr>
              <a:t>CWE-502 - Deserialization of Untrusted Data</a:t>
            </a:r>
            <a:endParaRPr lang="es-UY" b="0" dirty="0">
              <a:latin typeface="Gill San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9E4BA-3685-53CE-FE72-DC093C46D1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/>
          <a:lstStyle/>
          <a:p>
            <a:r>
              <a:rPr lang="es-UY" i="1" dirty="0">
                <a:latin typeface="Myriad Pro"/>
                <a:ea typeface="Roboto Light"/>
              </a:rPr>
              <a:t>DEMO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AA514-F393-E5E4-259C-201A4E92A820}"/>
              </a:ext>
            </a:extLst>
          </p:cNvPr>
          <p:cNvSpPr txBox="1"/>
          <p:nvPr/>
        </p:nvSpPr>
        <p:spPr>
          <a:xfrm>
            <a:off x="310862" y="6352143"/>
            <a:ext cx="6093724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UY" dirty="0">
                <a:latin typeface="Myriad Pro"/>
                <a:ea typeface="Roboto Light"/>
                <a:hlinkClick r:id="rId3"/>
              </a:rPr>
              <a:t>https://github.com/</a:t>
            </a:r>
            <a:r>
              <a:rPr lang="es-UY">
                <a:latin typeface="Myriad Pro"/>
                <a:ea typeface="Roboto Light"/>
              </a:rPr>
              <a:t> REFERENCIA DEL LA DEMO</a:t>
            </a:r>
            <a:endParaRPr lang="es-UY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EAFE98-412B-5666-2210-0A6AA4A76600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7753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BFBA0-E581-AA01-D8EF-0A621609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"/>
              </a:rPr>
              <a:t>CWE-502 - Deserialization of Untrusted Data</a:t>
            </a:r>
            <a:endParaRPr lang="es-UY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CCB4C6-0EF8-92E1-C298-F57A54C667E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56975" y="1268082"/>
            <a:ext cx="5911025" cy="4787661"/>
          </a:xfrm>
        </p:spPr>
        <p:txBody>
          <a:bodyPr/>
          <a:lstStyle/>
          <a:p>
            <a:r>
              <a:rPr lang="en-US" dirty="0">
                <a:ea typeface="Roboto Light"/>
                <a:cs typeface="Calibri"/>
              </a:rPr>
              <a:t>PPT de </a:t>
            </a:r>
            <a:r>
              <a:rPr lang="en-US" dirty="0" err="1">
                <a:ea typeface="Roboto Light"/>
                <a:cs typeface="Calibri"/>
              </a:rPr>
              <a:t>apoyo</a:t>
            </a:r>
            <a:r>
              <a:rPr lang="en-US" dirty="0">
                <a:ea typeface="Roboto Light"/>
                <a:cs typeface="Calibri"/>
              </a:rPr>
              <a:t> a la demo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D72B510-4AB8-ADCC-44B7-01F39726C8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>
                <a:ea typeface="Roboto Light"/>
                <a:cs typeface="Calibri"/>
              </a:rPr>
              <a:t>PPT de </a:t>
            </a:r>
            <a:r>
              <a:rPr lang="en-GB" dirty="0" err="1">
                <a:ea typeface="Roboto Light"/>
                <a:cs typeface="Calibri"/>
              </a:rPr>
              <a:t>apoyo</a:t>
            </a:r>
            <a:r>
              <a:rPr lang="en-GB" dirty="0">
                <a:ea typeface="Roboto Light"/>
                <a:cs typeface="Calibri"/>
              </a:rPr>
              <a:t> a la demo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8092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06D29-1287-208D-9F23-9371B9EB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553AB-9EF0-1B01-D4C8-737DD54F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"/>
              </a:rPr>
              <a:t>CWE-502 - Deserialization of Untrusted Data</a:t>
            </a:r>
            <a:endParaRPr lang="es-UY" b="0" dirty="0">
              <a:latin typeface="Gill Sans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7E48AD-067E-64AE-E77B-15D0BA83E9B3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4339A09-DADD-9BA7-6271-ACF6C38FDB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>
                <a:ea typeface="Roboto Light"/>
                <a:cs typeface="Calibri"/>
              </a:rPr>
              <a:t>Mitigaciones y </a:t>
            </a:r>
            <a:r>
              <a:rPr lang="en-GB" dirty="0" err="1">
                <a:ea typeface="Roboto Light"/>
                <a:cs typeface="Calibri"/>
              </a:rPr>
              <a:t>recomendaciones</a:t>
            </a:r>
            <a:endParaRPr lang="en-GB" dirty="0" err="1"/>
          </a:p>
        </p:txBody>
      </p:sp>
    </p:spTree>
    <p:extLst>
      <p:ext uri="{BB962C8B-B14F-4D97-AF65-F5344CB8AC3E}">
        <p14:creationId xmlns:p14="http://schemas.microsoft.com/office/powerpoint/2010/main" val="24483375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6 2.0-DSS-TEMPLATE SANS Top 25.pptx" id="{9CC88499-4DF2-4319-8A3D-BAF0512D9472}" vid="{B09C30F6-BB47-4EF6-A3FD-3F0DDC8E8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515cc93-823d-49e8-800c-c05db2f17c28" xsi:nil="true"/>
    <lcf76f155ced4ddcb4097134ff3c332f xmlns="bd4eda2a-3846-448a-b7a7-16e4dd1728c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A2CDEE0E8F4CACF6B95D3EF4C3B3" ma:contentTypeVersion="10" ma:contentTypeDescription="Create a new document." ma:contentTypeScope="" ma:versionID="73cc914fdf7996e7a618a83ebac81fd4">
  <xsd:schema xmlns:xsd="http://www.w3.org/2001/XMLSchema" xmlns:xs="http://www.w3.org/2001/XMLSchema" xmlns:p="http://schemas.microsoft.com/office/2006/metadata/properties" xmlns:ns2="bd4eda2a-3846-448a-b7a7-16e4dd1728c0" xmlns:ns3="b515cc93-823d-49e8-800c-c05db2f17c28" targetNamespace="http://schemas.microsoft.com/office/2006/metadata/properties" ma:root="true" ma:fieldsID="ca03da4c0f32a0ae05fe5bd68ee5a7b2" ns2:_="" ns3:_="">
    <xsd:import namespace="bd4eda2a-3846-448a-b7a7-16e4dd1728c0"/>
    <xsd:import namespace="b515cc93-823d-49e8-800c-c05db2f17c2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4eda2a-3846-448a-b7a7-16e4dd1728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765f979-277d-4bf9-9582-0bf89623a9d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15cc93-823d-49e8-800c-c05db2f17c2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1af4886-9b19-465b-9e1f-37e13c7617fe}" ma:internalName="TaxCatchAll" ma:showField="CatchAllData" ma:web="b515cc93-823d-49e8-800c-c05db2f17c2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F3C360-5A75-47F3-9C9D-34508B1338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2BA519C-7729-414F-A3E6-40E37993701E}">
  <ds:schemaRefs>
    <ds:schemaRef ds:uri="http://purl.org/dc/terms/"/>
    <ds:schemaRef ds:uri="http://schemas.microsoft.com/office/2006/documentManagement/types"/>
    <ds:schemaRef ds:uri="b515cc93-823d-49e8-800c-c05db2f17c28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bd4eda2a-3846-448a-b7a7-16e4dd1728c0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47596A9-359D-4684-8B47-659099474E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4eda2a-3846-448a-b7a7-16e4dd1728c0"/>
    <ds:schemaRef ds:uri="b515cc93-823d-49e8-800c-c05db2f17c2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2026 2.0-DSS-TEMPLATE SANS Top 25 (1)</Template>
  <TotalTime>62</TotalTime>
  <Words>203</Words>
  <Application>Microsoft Office PowerPoint</Application>
  <PresentationFormat>Panorámica</PresentationFormat>
  <Paragraphs>34</Paragraphs>
  <Slides>6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Gill Sans</vt:lpstr>
      <vt:lpstr>Myriad Pro</vt:lpstr>
      <vt:lpstr>Roboto Light</vt:lpstr>
      <vt:lpstr>Tema de Office</vt:lpstr>
      <vt:lpstr>Desarrollo Seguro de Software CWE/SANS TOP 25</vt:lpstr>
      <vt:lpstr>CWE-502 -  Deserialization of  Untrusted Data</vt:lpstr>
      <vt:lpstr>CWE-502 - Deserialization of Untrusted Data</vt:lpstr>
      <vt:lpstr>CWE-502 - Deserialization of Untrusted Data</vt:lpstr>
      <vt:lpstr>CWE-502 - Deserialization of Untrusted Data</vt:lpstr>
      <vt:lpstr>CWE-502 - Deserialization of Untrusted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Ignacio Weyrauch</dc:creator>
  <cp:lastModifiedBy>Juan Ignacio Weyrauch</cp:lastModifiedBy>
  <cp:revision>2</cp:revision>
  <dcterms:created xsi:type="dcterms:W3CDTF">2026-10-15T02:42:42Z</dcterms:created>
  <dcterms:modified xsi:type="dcterms:W3CDTF">2026-10-15T18:10:17Z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0x0101006F8CA2CDEE0E8F4CACF6B95D3EF4C3B3</vt:lpwstr>
  </property>
  <property fmtid="{D5CDD505-2E9C-101B-9397-08002B2CF9AE}" pid="3" name="Area">
    <vt:lpwstr/>
  </property>
  <property fmtid="{D5CDD505-2E9C-101B-9397-08002B2CF9AE}" pid="4" name="xd_ProgID">
    <vt:lpwstr/>
  </property>
  <property fmtid="{D5CDD505-2E9C-101B-9397-08002B2CF9AE}" pid="5" name="MediaServiceImageTags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